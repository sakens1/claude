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90" r:id="rId10"/>
    <p:sldId id="306" r:id="rId11"/>
    <p:sldId id="291" r:id="rId12"/>
    <p:sldId id="307" r:id="rId13"/>
    <p:sldId id="305" r:id="rId14"/>
    <p:sldId id="292" r:id="rId15"/>
    <p:sldId id="302" r:id="rId16"/>
    <p:sldId id="294" r:id="rId17"/>
    <p:sldId id="295" r:id="rId18"/>
    <p:sldId id="361" r:id="rId19"/>
    <p:sldId id="297" r:id="rId20"/>
    <p:sldId id="419" r:id="rId21"/>
    <p:sldId id="420" r:id="rId22"/>
    <p:sldId id="421" r:id="rId23"/>
    <p:sldId id="422" r:id="rId24"/>
    <p:sldId id="423" r:id="rId25"/>
    <p:sldId id="424" r:id="rId2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09" autoAdjust="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07A10-E8CD-4162-B3DE-9E13924BBA27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B1755-0E18-4C9E-B533-ED94AAC246C9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31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587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339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241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411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564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687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4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9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62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376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65FA6-4E20-40F7-8440-E47A25392588}" type="datetimeFigureOut">
              <a:rPr lang="es-CL" smtClean="0"/>
              <a:pPr/>
              <a:t>06-05-2022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EFA3-B67F-4F52-B75B-AA7AD3FBF3BC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960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hyperlink" Target="//upload.wikimedia.org/wikipedia/commons/2/2b/Muelle.gi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//commons.wikimedia.org/wiki/File:Fasorxva.gi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2408223"/>
            <a:ext cx="7772400" cy="1470025"/>
          </a:xfrm>
        </p:spPr>
        <p:txBody>
          <a:bodyPr/>
          <a:lstStyle/>
          <a:p>
            <a:br>
              <a:rPr lang="es-CL" dirty="0">
                <a:latin typeface="Arial" pitchFamily="34" charset="0"/>
                <a:cs typeface="Arial" pitchFamily="34" charset="0"/>
              </a:rPr>
            </a:br>
            <a:r>
              <a:rPr lang="es-CL" dirty="0">
                <a:latin typeface="Arial" pitchFamily="34" charset="0"/>
                <a:cs typeface="Arial" pitchFamily="34" charset="0"/>
              </a:rPr>
              <a:t>Oscilaciones</a:t>
            </a:r>
          </a:p>
        </p:txBody>
      </p:sp>
      <p:pic>
        <p:nvPicPr>
          <p:cNvPr id="1026" name="Picture 2" descr="http://web.educastur.princast.es/ies/alfonso2/departamentos/fisica_quimica/WEBFISQUI-2/ENLACE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228" y="4399837"/>
            <a:ext cx="3959253" cy="24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telefonica.net/web2/fjperezfuente/CyP_fisica/4%20Vibraciones%20y%20ondas/ense_onda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60032" cy="240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26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L" sz="2400" dirty="0">
                <a:latin typeface="Arial" pitchFamily="34" charset="0"/>
                <a:cs typeface="Arial" pitchFamily="34" charset="0"/>
              </a:rPr>
              <a:t>Virtualmente todo sistema posee una capacidad de vibración y la mayoría de los sistemas pueden vibrar.</a:t>
            </a:r>
          </a:p>
          <a:p>
            <a:pPr algn="just"/>
            <a:endParaRPr lang="es-CL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Rectángulo redondeado"/>
          <p:cNvSpPr/>
          <p:nvPr/>
        </p:nvSpPr>
        <p:spPr>
          <a:xfrm>
            <a:off x="971600" y="260648"/>
            <a:ext cx="7344816" cy="9361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Oscilaciones</a:t>
            </a:r>
          </a:p>
        </p:txBody>
      </p:sp>
    </p:spTree>
    <p:extLst>
      <p:ext uri="{BB962C8B-B14F-4D97-AF65-F5344CB8AC3E}">
        <p14:creationId xmlns:p14="http://schemas.microsoft.com/office/powerpoint/2010/main" val="75605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azulambientalistas.org/Imagenes/terremoto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90" y="1357298"/>
            <a:ext cx="6661905" cy="498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 redondeado"/>
          <p:cNvSpPr/>
          <p:nvPr/>
        </p:nvSpPr>
        <p:spPr>
          <a:xfrm>
            <a:off x="971600" y="260648"/>
            <a:ext cx="7344816" cy="9361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Oscilaciones</a:t>
            </a:r>
          </a:p>
        </p:txBody>
      </p:sp>
    </p:spTree>
    <p:extLst>
      <p:ext uri="{BB962C8B-B14F-4D97-AF65-F5344CB8AC3E}">
        <p14:creationId xmlns:p14="http://schemas.microsoft.com/office/powerpoint/2010/main" val="346004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400" dirty="0">
                <a:latin typeface="Arial" pitchFamily="34" charset="0"/>
                <a:cs typeface="Arial" pitchFamily="34" charset="0"/>
              </a:rPr>
              <a:t>Las ondas luminosas que nos permiten ver, oscilan.</a:t>
            </a:r>
          </a:p>
        </p:txBody>
      </p:sp>
      <p:pic>
        <p:nvPicPr>
          <p:cNvPr id="3074" name="Picture 2" descr="http://www.fisicanet.com.ar/monografias/monograficos3/es05/onda_luminosa01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32856"/>
            <a:ext cx="5893404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 redondeado"/>
          <p:cNvSpPr/>
          <p:nvPr/>
        </p:nvSpPr>
        <p:spPr>
          <a:xfrm>
            <a:off x="971600" y="260648"/>
            <a:ext cx="7344816" cy="9361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Oscilaciones</a:t>
            </a:r>
          </a:p>
        </p:txBody>
      </p:sp>
    </p:spTree>
    <p:extLst>
      <p:ext uri="{BB962C8B-B14F-4D97-AF65-F5344CB8AC3E}">
        <p14:creationId xmlns:p14="http://schemas.microsoft.com/office/powerpoint/2010/main" val="37685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sz="2800" dirty="0"/>
              <a:t>La característica común de todos estos fenómenos es su </a:t>
            </a:r>
            <a:r>
              <a:rPr lang="es-CL" sz="2800" dirty="0" err="1"/>
              <a:t>periocidad</a:t>
            </a:r>
            <a:r>
              <a:rPr lang="es-CL" sz="2800" dirty="0"/>
              <a:t>.</a:t>
            </a:r>
          </a:p>
          <a:p>
            <a:endParaRPr lang="es-C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2857496"/>
            <a:ext cx="6120680" cy="1721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4869160"/>
            <a:ext cx="5832647" cy="168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660232" y="3139236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Variación de presión en el corazón de un gato.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812632" y="506447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Diapasón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971600" y="260648"/>
            <a:ext cx="7344816" cy="9361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Oscilaciones</a:t>
            </a:r>
          </a:p>
        </p:txBody>
      </p:sp>
    </p:spTree>
    <p:extLst>
      <p:ext uri="{BB962C8B-B14F-4D97-AF65-F5344CB8AC3E}">
        <p14:creationId xmlns:p14="http://schemas.microsoft.com/office/powerpoint/2010/main" val="181082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Vibración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s-CL" sz="1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Es el movimiento de vaivén que tiene un cuerpo  en torno a un punto central o punto de equilibrio.</a:t>
            </a: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s-CL" sz="1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Los fenómenos  propios de una vibración se pueden estudiar  a través  de un modelo llamado </a:t>
            </a:r>
            <a:r>
              <a:rPr lang="es-CL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OSCILACIÓN. </a:t>
            </a:r>
            <a:r>
              <a:rPr lang="es-CL" sz="1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Y se plantea que ésta siempre describe el mismo ciclo en forma periódica.</a:t>
            </a: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defRPr/>
            </a:pPr>
            <a:endParaRPr lang="es-CL" sz="1800" i="1" dirty="0">
              <a:solidFill>
                <a:srgbClr val="000000"/>
              </a:solidFill>
              <a:cs typeface="Arial" charset="0"/>
            </a:endParaRPr>
          </a:p>
          <a:p>
            <a:pPr algn="just" eaLnBrk="1" hangingPunct="1">
              <a:defRPr/>
            </a:pPr>
            <a:endParaRPr lang="es-ES" sz="1800" i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716910" y="512256"/>
            <a:ext cx="7920037" cy="900519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3200" b="1" dirty="0"/>
              <a:t>Vibraciones y Oscilaciones</a:t>
            </a:r>
          </a:p>
        </p:txBody>
      </p:sp>
      <p:pic>
        <p:nvPicPr>
          <p:cNvPr id="717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420938"/>
            <a:ext cx="2241542" cy="214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8" y="2285992"/>
            <a:ext cx="2365384" cy="207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09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s-CL" sz="1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</a:rPr>
              <a:t>.</a:t>
            </a:r>
            <a:endParaRPr lang="es-CL" sz="1800" dirty="0">
              <a:solidFill>
                <a:srgbClr val="000000"/>
              </a:solidFill>
              <a:cs typeface="Arial" charset="0"/>
            </a:endParaRPr>
          </a:p>
          <a:p>
            <a:pPr algn="just" eaLnBrk="1" hangingPunct="1">
              <a:defRPr/>
            </a:pPr>
            <a:endParaRPr lang="es-CL" sz="1800" i="1" dirty="0">
              <a:solidFill>
                <a:srgbClr val="000000"/>
              </a:solidFill>
              <a:cs typeface="Arial" charset="0"/>
            </a:endParaRPr>
          </a:p>
          <a:p>
            <a:pPr algn="just" eaLnBrk="1" hangingPunct="1">
              <a:defRPr/>
            </a:pPr>
            <a:endParaRPr lang="es-CL" sz="1800" i="1" dirty="0">
              <a:solidFill>
                <a:srgbClr val="000000"/>
              </a:solidFill>
              <a:cs typeface="Arial" charset="0"/>
            </a:endParaRPr>
          </a:p>
          <a:p>
            <a:pPr algn="just" eaLnBrk="1" hangingPunct="1">
              <a:defRPr/>
            </a:pPr>
            <a:endParaRPr lang="es-ES" sz="1800" i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684213" y="188913"/>
            <a:ext cx="7920037" cy="93662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3200" b="1" dirty="0"/>
              <a:t>La oscilación se caracteriza a través </a:t>
            </a:r>
          </a:p>
          <a:p>
            <a:pPr algn="ctr"/>
            <a:r>
              <a:rPr lang="es-ES" sz="3200" b="1" dirty="0"/>
              <a:t>de las siguientes variables</a:t>
            </a:r>
          </a:p>
        </p:txBody>
      </p:sp>
      <p:sp>
        <p:nvSpPr>
          <p:cNvPr id="3" name="2 Marcador de texto"/>
          <p:cNvSpPr>
            <a:spLocks/>
          </p:cNvSpPr>
          <p:nvPr/>
        </p:nvSpPr>
        <p:spPr bwMode="auto">
          <a:xfrm>
            <a:off x="611188" y="1341438"/>
            <a:ext cx="7777162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/>
          <a:lstStyle/>
          <a:p>
            <a:pPr marL="342900" indent="-342900" algn="just">
              <a:spcBef>
                <a:spcPct val="20000"/>
              </a:spcBef>
              <a:buFont typeface="Calibri" pitchFamily="34" charset="0"/>
              <a:buAutoNum type="arabicPeriod"/>
              <a:defRPr/>
            </a:pPr>
            <a:r>
              <a:rPr lang="es-CL" sz="20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PUNTO DE EQUILIBRIO:</a:t>
            </a:r>
            <a:r>
              <a:rPr lang="es-CL" sz="2000" dirty="0">
                <a:solidFill>
                  <a:srgbClr val="000000"/>
                </a:solidFill>
                <a:latin typeface="+mj-lt"/>
                <a:cs typeface="Arial" pitchFamily="34" charset="0"/>
              </a:rPr>
              <a:t> Es el punto central en torno al cual vibra un objeto, o bien la posición que tiene el cuerpo antes que empiece a vibrar.</a:t>
            </a:r>
          </a:p>
          <a:p>
            <a:pPr marL="342900" indent="-342900" algn="just">
              <a:spcBef>
                <a:spcPct val="20000"/>
              </a:spcBef>
              <a:buFont typeface="Calibri" pitchFamily="34" charset="0"/>
              <a:buAutoNum type="arabicPeriod"/>
              <a:defRPr/>
            </a:pPr>
            <a:r>
              <a:rPr lang="es-CL" sz="20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ELONGACIÓN: </a:t>
            </a:r>
            <a:r>
              <a:rPr lang="es-CL" sz="2000" dirty="0">
                <a:solidFill>
                  <a:srgbClr val="000000"/>
                </a:solidFill>
                <a:latin typeface="+mj-lt"/>
                <a:cs typeface="Arial" pitchFamily="34" charset="0"/>
              </a:rPr>
              <a:t>Es la distancia entre el punto de equilibrio y la posición del cuerpo en cualquier instante de tiempo.</a:t>
            </a:r>
          </a:p>
          <a:p>
            <a:pPr marL="342900" indent="-342900" algn="just">
              <a:spcBef>
                <a:spcPct val="20000"/>
              </a:spcBef>
              <a:buFont typeface="Calibri" pitchFamily="34" charset="0"/>
              <a:buNone/>
              <a:defRPr/>
            </a:pPr>
            <a:endParaRPr lang="es-CL" sz="1600" b="1" u="sng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8200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60" y="3429000"/>
            <a:ext cx="4214842" cy="3142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437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684213" y="188913"/>
            <a:ext cx="7920037" cy="936625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" sz="3200" b="1"/>
              <a:t>La oscilación se caracteriza a través </a:t>
            </a:r>
          </a:p>
          <a:p>
            <a:pPr algn="ctr"/>
            <a:r>
              <a:rPr lang="es-ES" sz="3200" b="1"/>
              <a:t>de las siguientes variables</a:t>
            </a:r>
          </a:p>
        </p:txBody>
      </p:sp>
      <p:sp>
        <p:nvSpPr>
          <p:cNvPr id="3" name="2 Marcador de texto"/>
          <p:cNvSpPr>
            <a:spLocks/>
          </p:cNvSpPr>
          <p:nvPr/>
        </p:nvSpPr>
        <p:spPr bwMode="auto">
          <a:xfrm>
            <a:off x="323850" y="1341438"/>
            <a:ext cx="806450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/>
          <a:lstStyle/>
          <a:p>
            <a:pPr marL="609600" indent="-609600" algn="just">
              <a:spcBef>
                <a:spcPct val="20000"/>
              </a:spcBef>
              <a:buFont typeface="Calibri" pitchFamily="34" charset="0"/>
              <a:buNone/>
              <a:defRPr/>
            </a:pPr>
            <a:r>
              <a:rPr lang="es-CL" sz="1600" b="1" dirty="0">
                <a:solidFill>
                  <a:srgbClr val="000000"/>
                </a:solidFill>
              </a:rPr>
              <a:t>3.- </a:t>
            </a:r>
            <a:r>
              <a:rPr lang="es-CL" sz="16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AMPLITUD (A): 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Es la elongación máxima de un cuerpo al realizar un ciclo, y se mide en metros (m).</a:t>
            </a:r>
          </a:p>
          <a:p>
            <a:pPr marL="609600" indent="-609600" algn="just">
              <a:spcBef>
                <a:spcPct val="20000"/>
              </a:spcBef>
              <a:buFont typeface="Calibri" pitchFamily="34" charset="0"/>
              <a:buNone/>
              <a:defRPr/>
            </a:pPr>
            <a:r>
              <a:rPr lang="es-CL" sz="1600" b="1" dirty="0">
                <a:solidFill>
                  <a:srgbClr val="000000"/>
                </a:solidFill>
                <a:latin typeface="+mj-lt"/>
                <a:cs typeface="Arial" pitchFamily="34" charset="0"/>
              </a:rPr>
              <a:t>4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.- </a:t>
            </a:r>
            <a:r>
              <a:rPr lang="es-CL" sz="16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CICLO: 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Es una vibración completa, o bien, cuando el cuerpo parte de una posición y llega a la misma, después de haber realizado todo el recorrido.</a:t>
            </a:r>
          </a:p>
          <a:p>
            <a:pPr marL="609600" indent="-609600" algn="just">
              <a:spcBef>
                <a:spcPct val="20000"/>
              </a:spcBef>
              <a:buFont typeface="Calibri" pitchFamily="34" charset="0"/>
              <a:buNone/>
              <a:defRPr/>
            </a:pPr>
            <a:r>
              <a:rPr lang="es-CL" sz="1600" b="1" dirty="0">
                <a:solidFill>
                  <a:srgbClr val="000000"/>
                </a:solidFill>
                <a:latin typeface="+mj-lt"/>
                <a:cs typeface="Arial" pitchFamily="34" charset="0"/>
              </a:rPr>
              <a:t>5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.- </a:t>
            </a:r>
            <a:r>
              <a:rPr lang="es-CL" sz="16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PERÍODO (T): 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Es el tiempo que demora cada ciclo. Su unidad es el segundo (s).</a:t>
            </a:r>
          </a:p>
          <a:p>
            <a:pPr marL="609600" indent="-609600" algn="just">
              <a:spcBef>
                <a:spcPct val="20000"/>
              </a:spcBef>
              <a:buFont typeface="Calibri" pitchFamily="34" charset="0"/>
              <a:buNone/>
              <a:defRPr/>
            </a:pPr>
            <a:r>
              <a:rPr lang="es-CL" sz="1600" b="1" dirty="0">
                <a:solidFill>
                  <a:srgbClr val="000000"/>
                </a:solidFill>
                <a:latin typeface="+mj-lt"/>
                <a:cs typeface="Arial" pitchFamily="34" charset="0"/>
              </a:rPr>
              <a:t>6.-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 </a:t>
            </a:r>
            <a:r>
              <a:rPr lang="es-CL" sz="16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FRECUENCIA (f): </a:t>
            </a:r>
            <a:r>
              <a:rPr lang="es-CL" sz="1600" dirty="0">
                <a:solidFill>
                  <a:srgbClr val="000000"/>
                </a:solidFill>
                <a:latin typeface="+mj-lt"/>
                <a:cs typeface="Arial" pitchFamily="34" charset="0"/>
              </a:rPr>
              <a:t>Es el numero de ciclos que el cuerpo realiza en una unidad de tiempo. La unidad de medida es el Hertz(Hz) y equivale al numero de ciclos que ocurren en un segundo.</a:t>
            </a:r>
            <a:endParaRPr lang="es-CL" sz="1600" b="1" u="sng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Arial" pitchFamily="34" charset="0"/>
            </a:endParaRPr>
          </a:p>
          <a:p>
            <a:pPr marL="609600" indent="-609600" algn="just">
              <a:spcBef>
                <a:spcPct val="20000"/>
              </a:spcBef>
              <a:buFont typeface="Calibri" pitchFamily="34" charset="0"/>
              <a:buNone/>
              <a:defRPr/>
            </a:pPr>
            <a:endParaRPr lang="es-CL" sz="1600" b="1" u="sng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922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60" y="3929066"/>
            <a:ext cx="331470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40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s-CL" sz="3200" dirty="0"/>
              <a:t>Descripción de una Oscilación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908720"/>
            <a:ext cx="3096344" cy="5747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306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rgbClr val="0070C0"/>
                </a:solidFill>
              </a:rPr>
              <a:t>¿Qué es un MAS?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400" dirty="0">
                <a:latin typeface="+mj-lt"/>
                <a:cs typeface="Arial" pitchFamily="34" charset="0"/>
              </a:rPr>
              <a:t>El movimiento armónico simple (</a:t>
            </a:r>
            <a:r>
              <a:rPr lang="es-ES" sz="2400" dirty="0" err="1">
                <a:latin typeface="+mj-lt"/>
                <a:cs typeface="Arial" pitchFamily="34" charset="0"/>
              </a:rPr>
              <a:t>m.a.s</a:t>
            </a:r>
            <a:r>
              <a:rPr lang="es-ES" sz="2400" dirty="0">
                <a:latin typeface="+mj-lt"/>
                <a:cs typeface="Arial" pitchFamily="34" charset="0"/>
              </a:rPr>
              <a:t>.), también denominado movimiento vibratorio armónico simple (</a:t>
            </a:r>
            <a:r>
              <a:rPr lang="es-ES" sz="2400" dirty="0" err="1">
                <a:latin typeface="+mj-lt"/>
                <a:cs typeface="Arial" pitchFamily="34" charset="0"/>
              </a:rPr>
              <a:t>m.v.a.s</a:t>
            </a:r>
            <a:r>
              <a:rPr lang="es-ES" sz="2400" dirty="0">
                <a:latin typeface="+mj-lt"/>
                <a:cs typeface="Arial" pitchFamily="34" charset="0"/>
              </a:rPr>
              <a:t>.), es un movimiento periódico, oscilatorio y vibratorio en ausencia de fricción, producido por la acción de una fuerza recuperadora que es directamente proporcional a la posición pero en sentido opuesto.</a:t>
            </a:r>
          </a:p>
          <a:p>
            <a:pPr algn="just"/>
            <a:endParaRPr lang="es-ES" sz="2400" dirty="0">
              <a:latin typeface="+mj-lt"/>
            </a:endParaRPr>
          </a:p>
          <a:p>
            <a:pPr algn="just"/>
            <a:r>
              <a:rPr lang="es-ES" sz="2400" dirty="0">
                <a:latin typeface="+mj-lt"/>
              </a:rPr>
              <a:t>Queda descrito en función del tiempo por una función senoidal (seno o coseno). </a:t>
            </a:r>
            <a:endParaRPr lang="es-CL" sz="2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600" dirty="0"/>
              <a:t>Movimiento Armónico Simple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La amplitud del movimiento, denotada con A, es la magnitud máxima del desplazamiento respecto al equilibrio, es decir, el valor máximo de: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Este valor es siempre positivo.</a:t>
            </a: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Una vibración completa, o ciclo, es un viaje redondo, digamos de A  </a:t>
            </a:r>
            <a:r>
              <a:rPr lang="es-CL" sz="2400" dirty="0" err="1">
                <a:latin typeface="+mj-lt"/>
                <a:cs typeface="Arial" pitchFamily="34" charset="0"/>
              </a:rPr>
              <a:t>a</a:t>
            </a:r>
            <a:r>
              <a:rPr lang="es-CL" sz="2400" dirty="0">
                <a:latin typeface="+mj-lt"/>
                <a:cs typeface="Arial" pitchFamily="34" charset="0"/>
              </a:rPr>
              <a:t> –A y de vuelta a </a:t>
            </a:r>
            <a:r>
              <a:rPr lang="es-CL" sz="2400" dirty="0" err="1">
                <a:latin typeface="+mj-lt"/>
                <a:cs typeface="Arial" pitchFamily="34" charset="0"/>
              </a:rPr>
              <a:t>A</a:t>
            </a:r>
            <a:r>
              <a:rPr lang="es-CL" sz="2400" dirty="0">
                <a:latin typeface="+mj-lt"/>
                <a:cs typeface="Arial" pitchFamily="34" charset="0"/>
              </a:rPr>
              <a:t>.</a:t>
            </a: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El período T, es el tiempo que tarda un ciclo y es siempre positivo.</a:t>
            </a:r>
          </a:p>
          <a:p>
            <a:endParaRPr lang="es-CL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171926"/>
              </p:ext>
            </p:extLst>
          </p:nvPr>
        </p:nvGraphicFramePr>
        <p:xfrm>
          <a:off x="1403648" y="2780928"/>
          <a:ext cx="576064" cy="88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Ecuación" r:id="rId3" imgW="164957" imgH="253780" progId="Equation.3">
                  <p:embed/>
                </p:oleObj>
              </mc:Choice>
              <mc:Fallback>
                <p:oleObj name="Ecuación" r:id="rId3" imgW="164957" imgH="253780" progId="Equation.3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780928"/>
                        <a:ext cx="576064" cy="8862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886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MAS</a:t>
            </a:r>
          </a:p>
        </p:txBody>
      </p:sp>
      <p:pic>
        <p:nvPicPr>
          <p:cNvPr id="16386" name="Picture 2" descr="File:Muelle.gif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17031"/>
            <a:ext cx="7621093" cy="172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117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upload.wikimedia.org/wikipedia/commons/1/1b/Fasorxva.gif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62591" y="170374"/>
            <a:ext cx="3024336" cy="637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43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La frecuencia, f, es el número de ciclos en la unidad de tiempo. Se mide en Hertz</a:t>
            </a: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La frecuencia angular </a:t>
            </a:r>
            <a:r>
              <a:rPr lang="el-GR" sz="2400" dirty="0">
                <a:latin typeface="+mj-lt"/>
                <a:cs typeface="Arial" pitchFamily="34" charset="0"/>
              </a:rPr>
              <a:t>ω</a:t>
            </a:r>
            <a:r>
              <a:rPr lang="es-CL" sz="2400" dirty="0">
                <a:latin typeface="+mj-lt"/>
                <a:cs typeface="Arial" pitchFamily="34" charset="0"/>
              </a:rPr>
              <a:t>, es 2</a:t>
            </a:r>
            <a:r>
              <a:rPr lang="el-GR" sz="2400" dirty="0">
                <a:latin typeface="+mj-lt"/>
                <a:cs typeface="Arial" pitchFamily="34" charset="0"/>
              </a:rPr>
              <a:t>π</a:t>
            </a:r>
            <a:r>
              <a:rPr lang="es-CL" sz="2400" dirty="0">
                <a:latin typeface="+mj-lt"/>
                <a:cs typeface="Arial" pitchFamily="34" charset="0"/>
              </a:rPr>
              <a:t> veces la frecuencia: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Podemos resumir las ecuaciones de la siguiente manera:</a:t>
            </a:r>
          </a:p>
          <a:p>
            <a:pPr algn="just"/>
            <a:endParaRPr lang="es-CL" sz="2400" dirty="0">
              <a:latin typeface="Arial" pitchFamily="34" charset="0"/>
              <a:cs typeface="Arial" pitchFamily="34" charset="0"/>
            </a:endParaRPr>
          </a:p>
          <a:p>
            <a:endParaRPr lang="es-CL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782293"/>
              </p:ext>
            </p:extLst>
          </p:nvPr>
        </p:nvGraphicFramePr>
        <p:xfrm>
          <a:off x="1043608" y="2924944"/>
          <a:ext cx="2376264" cy="530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5" name="Ecuación" r:id="rId3" imgW="622030" imgH="203112" progId="Equation.3">
                  <p:embed/>
                </p:oleObj>
              </mc:Choice>
              <mc:Fallback>
                <p:oleObj name="Ecuación" r:id="rId3" imgW="622030" imgH="203112" progId="Equation.3">
                  <p:embed/>
                  <p:pic>
                    <p:nvPicPr>
                      <p:cNvPr id="0" name="Picture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924944"/>
                        <a:ext cx="2376264" cy="5304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270572"/>
              </p:ext>
            </p:extLst>
          </p:nvPr>
        </p:nvGraphicFramePr>
        <p:xfrm>
          <a:off x="2411760" y="3933056"/>
          <a:ext cx="3024336" cy="2380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6" name="Ecuación" r:id="rId5" imgW="1054100" imgH="1244600" progId="Equation.3">
                  <p:embed/>
                </p:oleObj>
              </mc:Choice>
              <mc:Fallback>
                <p:oleObj name="Ecuación" r:id="rId5" imgW="1054100" imgH="1244600" progId="Equation.3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933056"/>
                        <a:ext cx="3024336" cy="2380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539750" y="188913"/>
            <a:ext cx="8064500" cy="100806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CL" sz="3200" dirty="0">
                <a:latin typeface="Arial" pitchFamily="34" charset="0"/>
                <a:cs typeface="Arial" pitchFamily="34" charset="0"/>
              </a:rPr>
              <a:t>Relación entre Período y Frecuencia</a:t>
            </a:r>
          </a:p>
        </p:txBody>
      </p:sp>
    </p:spTree>
    <p:extLst>
      <p:ext uri="{BB962C8B-B14F-4D97-AF65-F5344CB8AC3E}">
        <p14:creationId xmlns:p14="http://schemas.microsoft.com/office/powerpoint/2010/main" val="40695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400" dirty="0"/>
              <a:t>Entre los movimientos oscilatorios periódicos, el más importante y al mismo tiempo el más habitual es el llamado movimiento armónico simple.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539750" y="188913"/>
            <a:ext cx="8064500" cy="100806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CL" sz="3200" dirty="0">
                <a:latin typeface="Arial" pitchFamily="34" charset="0"/>
                <a:cs typeface="Arial" pitchFamily="34" charset="0"/>
              </a:rPr>
              <a:t>Movimiento Armónico Simple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El tipo más sencillo de oscilación se da cuando la fuerza de restitución </a:t>
            </a:r>
            <a:r>
              <a:rPr lang="es-CL" sz="2400" b="1" i="1" dirty="0" err="1">
                <a:latin typeface="+mj-lt"/>
                <a:cs typeface="Arial" pitchFamily="34" charset="0"/>
              </a:rPr>
              <a:t>Fx</a:t>
            </a:r>
            <a:r>
              <a:rPr lang="es-CL" sz="2400" dirty="0">
                <a:latin typeface="+mj-lt"/>
                <a:cs typeface="Arial" pitchFamily="34" charset="0"/>
              </a:rPr>
              <a:t> es directamente proporcional al desplazamiento </a:t>
            </a:r>
            <a:r>
              <a:rPr lang="es-CL" sz="2400" b="1" i="1" dirty="0">
                <a:latin typeface="+mj-lt"/>
                <a:cs typeface="Arial" pitchFamily="34" charset="0"/>
              </a:rPr>
              <a:t>x</a:t>
            </a:r>
            <a:r>
              <a:rPr lang="es-CL" sz="2400" dirty="0">
                <a:latin typeface="+mj-lt"/>
                <a:cs typeface="Arial" pitchFamily="34" charset="0"/>
              </a:rPr>
              <a:t>  respecto al equilibrio.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En el caso de la figura, tratándose de un resorte ideal cumple con la ley de Hooke.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En la figura, representamos la fuerza que actúa sobre un resorte ideal estirado como.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539750" y="188913"/>
            <a:ext cx="8064500" cy="1008062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CL" sz="3200" dirty="0">
                <a:latin typeface="Arial" pitchFamily="34" charset="0"/>
                <a:cs typeface="Arial" pitchFamily="34" charset="0"/>
              </a:rPr>
              <a:t>Movimiento Armónico Simple</a:t>
            </a:r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138162"/>
              </p:ext>
            </p:extLst>
          </p:nvPr>
        </p:nvGraphicFramePr>
        <p:xfrm>
          <a:off x="2534444" y="5517232"/>
          <a:ext cx="2045568" cy="681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cuación" r:id="rId3" imgW="532937" imgH="177646" progId="Equation.3">
                  <p:embed/>
                </p:oleObj>
              </mc:Choice>
              <mc:Fallback>
                <p:oleObj name="Ecuación" r:id="rId3" imgW="532937" imgH="177646" progId="Equation.3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444" y="5517232"/>
                        <a:ext cx="2045568" cy="6818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032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La componente en x de la fuerza que el resorte ejerce sobre un cuerpo es el negativo de ésta, así que la componente x de la fuerza </a:t>
            </a:r>
            <a:r>
              <a:rPr lang="es-CL" sz="2400" dirty="0" err="1">
                <a:latin typeface="+mj-lt"/>
                <a:cs typeface="Arial" pitchFamily="34" charset="0"/>
              </a:rPr>
              <a:t>Fx</a:t>
            </a:r>
            <a:r>
              <a:rPr lang="es-CL" sz="2400" dirty="0">
                <a:latin typeface="+mj-lt"/>
                <a:cs typeface="Arial" pitchFamily="34" charset="0"/>
              </a:rPr>
              <a:t> sobre el cuerpo es: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Que es la fuerza de restitución de un resorte ideal.</a:t>
            </a:r>
          </a:p>
          <a:p>
            <a:pPr algn="just"/>
            <a:endParaRPr lang="es-CL" sz="2400" dirty="0">
              <a:latin typeface="+mj-lt"/>
              <a:cs typeface="Arial" pitchFamily="34" charset="0"/>
            </a:endParaRPr>
          </a:p>
          <a:p>
            <a:pPr algn="just"/>
            <a:r>
              <a:rPr lang="es-CL" sz="2400" dirty="0">
                <a:latin typeface="+mj-lt"/>
                <a:cs typeface="Arial" pitchFamily="34" charset="0"/>
              </a:rPr>
              <a:t>Si la fuerza de restitución es directamente proporcional al desplazamiento respecto al equilibrio la oscilación se denomina: movimiento armónico simple.</a:t>
            </a:r>
          </a:p>
          <a:p>
            <a:pPr algn="just"/>
            <a:endParaRPr lang="es-CL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766651"/>
              </p:ext>
            </p:extLst>
          </p:nvPr>
        </p:nvGraphicFramePr>
        <p:xfrm>
          <a:off x="1000100" y="2643182"/>
          <a:ext cx="1823318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8" name="Ecuación" r:id="rId3" imgW="621760" imgH="177646" progId="Equation.3">
                  <p:embed/>
                </p:oleObj>
              </mc:Choice>
              <mc:Fallback>
                <p:oleObj name="Ecuación" r:id="rId3" imgW="621760" imgH="177646" progId="Equation.3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2643182"/>
                        <a:ext cx="1823318" cy="5209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068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iuteb.edu.ve/carreras/mecanica/contenidos/vibra/v-1-1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96752"/>
            <a:ext cx="7066823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012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Ecuaciones del MAS Para un cuerpo de masa 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b="1" dirty="0">
                <a:solidFill>
                  <a:srgbClr val="FF0000"/>
                </a:solidFill>
              </a:rPr>
              <a:t>Frecuencia angular:</a:t>
            </a:r>
          </a:p>
          <a:p>
            <a:endParaRPr lang="es-CL" dirty="0"/>
          </a:p>
          <a:p>
            <a:endParaRPr lang="es-CL" dirty="0"/>
          </a:p>
          <a:p>
            <a:r>
              <a:rPr lang="es-CL" b="1" dirty="0">
                <a:solidFill>
                  <a:srgbClr val="FF0000"/>
                </a:solidFill>
              </a:rPr>
              <a:t>Período y frecuencia: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15875"/>
              </p:ext>
            </p:extLst>
          </p:nvPr>
        </p:nvGraphicFramePr>
        <p:xfrm>
          <a:off x="1043608" y="2348880"/>
          <a:ext cx="1115938" cy="76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8" name="Ecuación" r:id="rId3" imgW="647419" imgH="444307" progId="Equation.3">
                  <p:embed/>
                </p:oleObj>
              </mc:Choice>
              <mc:Fallback>
                <p:oleObj name="Ecuación" r:id="rId3" imgW="647419" imgH="444307" progId="Equation.3">
                  <p:embed/>
                  <p:pic>
                    <p:nvPicPr>
                      <p:cNvPr id="0" name="Picture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348880"/>
                        <a:ext cx="1115938" cy="765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745246"/>
              </p:ext>
            </p:extLst>
          </p:nvPr>
        </p:nvGraphicFramePr>
        <p:xfrm>
          <a:off x="1115616" y="4293096"/>
          <a:ext cx="1981572" cy="660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9" name="Ecuación" r:id="rId5" imgW="1333500" imgH="444500" progId="Equation.3">
                  <p:embed/>
                </p:oleObj>
              </mc:Choice>
              <mc:Fallback>
                <p:oleObj name="Ecuación" r:id="rId5" imgW="1333500" imgH="444500" progId="Equation.3">
                  <p:embed/>
                  <p:pic>
                    <p:nvPicPr>
                      <p:cNvPr id="0" name="Picture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293096"/>
                        <a:ext cx="1981572" cy="6605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672870"/>
              </p:ext>
            </p:extLst>
          </p:nvPr>
        </p:nvGraphicFramePr>
        <p:xfrm>
          <a:off x="1043608" y="5445224"/>
          <a:ext cx="2604999" cy="7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0" name="Ecuación" r:id="rId7" imgW="1625600" imgH="457200" progId="Equation.3">
                  <p:embed/>
                </p:oleObj>
              </mc:Choice>
              <mc:Fallback>
                <p:oleObj name="Ecuación" r:id="rId7" imgW="1625600" imgH="457200" progId="Equation.3">
                  <p:embed/>
                  <p:pic>
                    <p:nvPicPr>
                      <p:cNvPr id="0" name="Picture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5445224"/>
                        <a:ext cx="2604999" cy="7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5638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s-CL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Desplazamiento en un MAS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4525963"/>
          </a:xfrm>
        </p:spPr>
        <p:txBody>
          <a:bodyPr/>
          <a:lstStyle/>
          <a:p>
            <a:r>
              <a:rPr lang="es-CL" dirty="0"/>
              <a:t>Se utiliza una función sinusoidal:</a:t>
            </a:r>
          </a:p>
          <a:p>
            <a:endParaRPr lang="es-CL" dirty="0"/>
          </a:p>
        </p:txBody>
      </p:sp>
      <p:graphicFrame>
        <p:nvGraphicFramePr>
          <p:cNvPr id="13" name="12 Tabla"/>
          <p:cNvGraphicFramePr>
            <a:graphicFrameLocks noGrp="1"/>
          </p:cNvGraphicFramePr>
          <p:nvPr/>
        </p:nvGraphicFramePr>
        <p:xfrm>
          <a:off x="500034" y="2000240"/>
          <a:ext cx="7858180" cy="1211780"/>
        </p:xfrm>
        <a:graphic>
          <a:graphicData uri="http://schemas.openxmlformats.org/drawingml/2006/table">
            <a:tbl>
              <a:tblPr/>
              <a:tblGrid>
                <a:gridCol w="392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17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L" sz="16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L" sz="16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413" name="Picture 7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2285992"/>
            <a:ext cx="3727093" cy="540428"/>
          </a:xfrm>
          <a:prstGeom prst="rect">
            <a:avLst/>
          </a:prstGeom>
          <a:noFill/>
        </p:spPr>
      </p:pic>
      <p:pic>
        <p:nvPicPr>
          <p:cNvPr id="14412" name="Picture 7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00563" y="2285992"/>
            <a:ext cx="3857652" cy="571504"/>
          </a:xfrm>
          <a:prstGeom prst="rect">
            <a:avLst/>
          </a:prstGeom>
          <a:noFill/>
        </p:spPr>
      </p:pic>
      <p:sp>
        <p:nvSpPr>
          <p:cNvPr id="14414" name="Rectangle 7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415" name="Picture 7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3214686"/>
            <a:ext cx="6643734" cy="3450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13488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26" y="714356"/>
            <a:ext cx="5760640" cy="476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Flecha derecha"/>
          <p:cNvSpPr/>
          <p:nvPr/>
        </p:nvSpPr>
        <p:spPr>
          <a:xfrm>
            <a:off x="0" y="1000108"/>
            <a:ext cx="3143240" cy="200026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solidFill>
                  <a:schemeClr val="tx1"/>
                </a:solidFill>
              </a:rPr>
              <a:t>Relación con el MCU</a:t>
            </a:r>
          </a:p>
        </p:txBody>
      </p:sp>
    </p:spTree>
    <p:extLst>
      <p:ext uri="{BB962C8B-B14F-4D97-AF65-F5344CB8AC3E}">
        <p14:creationId xmlns:p14="http://schemas.microsoft.com/office/powerpoint/2010/main" val="3226645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es-CL" b="1" dirty="0">
                <a:solidFill>
                  <a:schemeClr val="accent1"/>
                </a:solidFill>
              </a:rPr>
              <a:t>Rapidez en un 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0034" y="1071546"/>
            <a:ext cx="8229600" cy="964704"/>
          </a:xfrm>
        </p:spPr>
        <p:txBody>
          <a:bodyPr>
            <a:normAutofit/>
          </a:bodyPr>
          <a:lstStyle/>
          <a:p>
            <a:pPr algn="just"/>
            <a:r>
              <a:rPr lang="es-CL" sz="2400" dirty="0">
                <a:latin typeface="Arial" pitchFamily="34" charset="0"/>
                <a:cs typeface="Arial" pitchFamily="34" charset="0"/>
              </a:rPr>
              <a:t>Se obtiene derivando la expresión de posición con respecto al tiempo.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6" y="3315428"/>
            <a:ext cx="4248472" cy="3542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571472" y="1928802"/>
          <a:ext cx="8001056" cy="1211778"/>
        </p:xfrm>
        <a:graphic>
          <a:graphicData uri="http://schemas.openxmlformats.org/drawingml/2006/table">
            <a:tbl>
              <a:tblPr/>
              <a:tblGrid>
                <a:gridCol w="400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17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L" sz="16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4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98" name="Picture 6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4348" y="2428868"/>
            <a:ext cx="3357586" cy="412585"/>
          </a:xfrm>
          <a:prstGeom prst="rect">
            <a:avLst/>
          </a:prstGeom>
          <a:noFill/>
        </p:spPr>
      </p:pic>
      <p:pic>
        <p:nvPicPr>
          <p:cNvPr id="18499" name="Picture 6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628" y="2357430"/>
            <a:ext cx="3207320" cy="4286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1615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Aceleración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2400" dirty="0">
                <a:latin typeface="Arial" pitchFamily="34" charset="0"/>
                <a:cs typeface="Arial" pitchFamily="34" charset="0"/>
              </a:rPr>
              <a:t>La aceleración de un cuerpo con MAS está dado por:</a:t>
            </a:r>
          </a:p>
          <a:p>
            <a:endParaRPr lang="es-CL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714348" y="2714620"/>
          <a:ext cx="7786744" cy="953649"/>
        </p:xfrm>
        <a:graphic>
          <a:graphicData uri="http://schemas.openxmlformats.org/drawingml/2006/table">
            <a:tbl>
              <a:tblPr/>
              <a:tblGrid>
                <a:gridCol w="389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36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L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L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C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340" name="Picture 7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3000372"/>
            <a:ext cx="3314723" cy="458257"/>
          </a:xfrm>
          <a:prstGeom prst="rect">
            <a:avLst/>
          </a:prstGeom>
          <a:noFill/>
        </p:spPr>
      </p:pic>
      <p:pic>
        <p:nvPicPr>
          <p:cNvPr id="11339" name="Picture 7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4876" y="3000372"/>
            <a:ext cx="3667151" cy="500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2420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84" y="2132855"/>
            <a:ext cx="8929016" cy="2074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0479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chemeClr val="accent1"/>
                </a:solidFill>
              </a:rPr>
              <a:t>Amplitud para un 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Ángulo de fase:</a:t>
            </a:r>
          </a:p>
          <a:p>
            <a:endParaRPr lang="es-CL" dirty="0"/>
          </a:p>
          <a:p>
            <a:endParaRPr lang="es-CL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70" y="1643050"/>
            <a:ext cx="3900515" cy="150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32" y="4429132"/>
            <a:ext cx="4023590" cy="1797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6904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Presentación en pantalla (4:3)</PresentationFormat>
  <Paragraphs>84</Paragraphs>
  <Slides>25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Tema de Office</vt:lpstr>
      <vt:lpstr>Ecuación</vt:lpstr>
      <vt:lpstr> Oscilaciones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Descripción de una Oscilación</vt:lpstr>
      <vt:lpstr>¿Qué es un MAS?</vt:lpstr>
      <vt:lpstr>Movimiento Armónico Simple</vt:lpstr>
      <vt:lpstr>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Ecuaciones del MAS Para un cuerpo de masa m</vt:lpstr>
      <vt:lpstr>Desplazamiento en un MAS </vt:lpstr>
      <vt:lpstr>Presentación de PowerPoint</vt:lpstr>
      <vt:lpstr>Rapidez en un MAS</vt:lpstr>
      <vt:lpstr>Aceleración</vt:lpstr>
      <vt:lpstr>Presentación de PowerPoint</vt:lpstr>
      <vt:lpstr>Amplitud para un 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2022-05-06T17:49:28Z</dcterms:created>
  <dcterms:modified xsi:type="dcterms:W3CDTF">2022-05-06T17:50:42Z</dcterms:modified>
</cp:coreProperties>
</file>